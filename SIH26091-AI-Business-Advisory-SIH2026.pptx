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640080"/>
            <a:ext cx="3474720" cy="411480"/>
          </a:xfrm>
          <a:prstGeom prst="roundRect">
            <a:avLst>
              <a:gd name="adj" fmla="val 22222"/>
            </a:avLst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64008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INDIA HACKATHON 2026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389120" y="64008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ID: SIH26091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128016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Hyper-Local Business Advisory &amp; Financial Structuring Platform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31520" y="24231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Empowering Rural Micro-Entrepreneurs with Evidence-Based Spatial Intelligence &amp; Automated Financial Modeling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3108960"/>
            <a:ext cx="2560320" cy="365760"/>
          </a:xfrm>
          <a:prstGeom prst="roundRect">
            <a:avLst>
              <a:gd name="adj" fmla="val 25000"/>
            </a:avLst>
          </a:prstGeom>
          <a:solidFill>
            <a:srgbClr val="132A4A"/>
          </a:solidFill>
          <a:ln w="12700">
            <a:solidFill>
              <a:srgbClr val="24436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1089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Hyper-Local Competition Map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29000" y="3108960"/>
            <a:ext cx="2560320" cy="365760"/>
          </a:xfrm>
          <a:prstGeom prst="roundRect">
            <a:avLst>
              <a:gd name="adj" fmla="val 25000"/>
            </a:avLst>
          </a:prstGeom>
          <a:solidFill>
            <a:srgbClr val="132A4A"/>
          </a:solidFill>
          <a:ln w="12700">
            <a:solidFill>
              <a:srgbClr val="24436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29000" y="31089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Business Intelligence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3108960"/>
            <a:ext cx="2560320" cy="365760"/>
          </a:xfrm>
          <a:prstGeom prst="roundRect">
            <a:avLst>
              <a:gd name="adj" fmla="val 25000"/>
            </a:avLst>
          </a:prstGeom>
          <a:solidFill>
            <a:srgbClr val="132A4A"/>
          </a:solidFill>
          <a:ln w="12700">
            <a:solidFill>
              <a:srgbClr val="24436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31089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Feasibility &amp; EMI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823960" y="3108960"/>
            <a:ext cx="2560320" cy="365760"/>
          </a:xfrm>
          <a:prstGeom prst="roundRect">
            <a:avLst>
              <a:gd name="adj" fmla="val 25000"/>
            </a:avLst>
          </a:prstGeom>
          <a:solidFill>
            <a:srgbClr val="132A4A"/>
          </a:solidFill>
          <a:ln w="12700">
            <a:solidFill>
              <a:srgbClr val="24436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23960" y="31089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Govt Scheme Matchmaker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3840480"/>
            <a:ext cx="5212080" cy="2377440"/>
          </a:xfrm>
          <a:prstGeom prst="roundRect">
            <a:avLst>
              <a:gd name="adj" fmla="val 5769"/>
            </a:avLst>
          </a:prstGeom>
          <a:solidFill>
            <a:srgbClr val="10243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97764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DETAILS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4297680"/>
            <a:ext cx="48463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Name: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[Team Name Placeholder]
</a:t>
            </a:r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Institution: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[Institution / University Name Placeholder]
</a:t>
            </a:r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Lead: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[Team Lead Name] (Full Stack &amp; AI)
</a:t>
            </a:r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Members: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[Member 2], [Member 3], [Member 4], [Member 5]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17920" y="3840480"/>
            <a:ext cx="5212080" cy="2377440"/>
          </a:xfrm>
          <a:prstGeom prst="roundRect">
            <a:avLst>
              <a:gd name="adj" fmla="val 5769"/>
            </a:avLst>
          </a:prstGeom>
          <a:solidFill>
            <a:srgbClr val="10243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397764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MENTOR &amp; DOMAIN ALIGNMENT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0" y="4297680"/>
            <a:ext cx="48463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Faculty Mentor: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[Mentor Name &amp; Designation]
</a:t>
            </a:r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Domain: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Rural Micro-Entrepreneurship &amp; FinTech
</a:t>
            </a:r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Principle: </a:t>
            </a:r>
            <a:pPr indent="0" marL="0">
              <a:lnSpc>
                <a:spcPts val="1800"/>
              </a:lnSpc>
              <a:buNone/>
            </a:pPr>
            <a:r>
              <a:rPr lang="en-US" sz="1200" i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"AI interprets evidence; it does not invent local facts."
</a:t>
            </a:r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Status: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Architecture &amp; 36-Hour Hackathon Blueprint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2926080" cy="320040"/>
          </a:xfrm>
          <a:prstGeom prst="roundRect">
            <a:avLst>
              <a:gd name="adj" fmla="val 28571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UNDERSTANDING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74980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Rural Micro-Entrepreneurs Face Severe Information Asymmetry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20700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rural business ideas fail: opacity in local market saturation, credit structuring, and scheme awareness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107259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737360"/>
            <a:ext cx="5212080" cy="201168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920240"/>
            <a:ext cx="137160" cy="16459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19659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Hyper-Local Market Opacity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51560" y="2331720"/>
            <a:ext cx="4663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Rural founders lack accessible spatial tools to evaluate existing competitors in their immediate village or pin code radius, leading to market overcrowding.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72200" y="1737360"/>
            <a:ext cx="5212080" cy="201168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72200" y="1920240"/>
            <a:ext cx="137160" cy="1645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19659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The 'Invisible' Informal Sector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92240" y="2331720"/>
            <a:ext cx="4663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Formal databases (UDYAM/MSME) miss unorganized local shops, weekly markets (Haats), and home vendors known only to local residents.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3931920"/>
            <a:ext cx="5212080" cy="201168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4114800"/>
            <a:ext cx="137160" cy="1645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7" name="Text 15"/>
          <p:cNvSpPr/>
          <p:nvPr/>
        </p:nvSpPr>
        <p:spPr>
          <a:xfrm>
            <a:off x="1051560" y="416052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Financial Structuring Barrier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51560" y="4526280"/>
            <a:ext cx="4663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Entrepreneurs struggle to calculate project feasibility, required working capital, break-even sales revenue, and bank EMI obligations.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172200" y="3931920"/>
            <a:ext cx="5212080" cy="201168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72200" y="4114800"/>
            <a:ext cx="137160" cy="1645920"/>
          </a:xfrm>
          <a:prstGeom prst="rect">
            <a:avLst/>
          </a:prstGeom>
          <a:solidFill>
            <a:srgbClr val="0F382C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416052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Government Scheme Complexity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92240" y="4526280"/>
            <a:ext cx="4663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Fragmented guidelines across PMEGP, Mudra, PM-FME make it difficult for first-time founders to identify eligible grants and subsidies.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31520" y="6172200"/>
            <a:ext cx="10725912" cy="457200"/>
          </a:xfrm>
          <a:prstGeom prst="roundRect">
            <a:avLst>
              <a:gd name="adj" fmla="val 16000"/>
            </a:avLst>
          </a:prstGeom>
          <a:solidFill>
            <a:srgbClr val="E6F4F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617220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38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INSIGHT: Traditional business advisory tools ignore rural informal markets. A ground-truth multi-source approach is essential.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2926080" cy="320040"/>
          </a:xfrm>
          <a:prstGeom prst="roundRect">
            <a:avLst>
              <a:gd name="adj" fmla="val 28571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SOLUTION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74980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Evidence-Based Advisory Workflow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20700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user inputs are processed through spatial, financial, and AI engines to produce actionable recommendations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107259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828800"/>
            <a:ext cx="2011680" cy="4023360"/>
          </a:xfrm>
          <a:prstGeom prst="roundRect">
            <a:avLst>
              <a:gd name="adj" fmla="val 5455"/>
            </a:avLst>
          </a:prstGeom>
          <a:solidFill>
            <a:srgbClr val="0B1D3A"/>
          </a:solidFill>
          <a:ln w="19050">
            <a:solidFill>
              <a:srgbClr val="0B1D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011680"/>
            <a:ext cx="1645920" cy="320040"/>
          </a:xfrm>
          <a:prstGeom prst="roundRect">
            <a:avLst>
              <a:gd name="adj" fmla="val 22857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0116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24231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INPUT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14400" y="2880360"/>
            <a:ext cx="1645920" cy="0"/>
          </a:xfrm>
          <a:prstGeom prst="line">
            <a:avLst/>
          </a:prstGeom>
          <a:noFill/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971800"/>
            <a:ext cx="17373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Location (Pin / Village)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Proposed Business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Available Capital Budget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61488" y="3657600"/>
            <a:ext cx="146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907792" y="1828800"/>
            <a:ext cx="2011680" cy="40233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090672" y="2011680"/>
            <a:ext cx="1645920" cy="320040"/>
          </a:xfrm>
          <a:prstGeom prst="roundRect">
            <a:avLst>
              <a:gd name="adj" fmla="val 22857"/>
            </a:avLst>
          </a:prstGeom>
          <a:solidFill>
            <a:srgbClr val="E6F4F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90672" y="20116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38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999232" y="24231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INGESTION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090672" y="2880360"/>
            <a:ext cx="16459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44952" y="2971800"/>
            <a:ext cx="17373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UDYAM/MSME Dataset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OpenStreetMap POIs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Census &amp; Govt Data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Community Reports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37760" y="3657600"/>
            <a:ext cx="146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084064" y="1828800"/>
            <a:ext cx="2011680" cy="40233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266944" y="2011680"/>
            <a:ext cx="1645920" cy="320040"/>
          </a:xfrm>
          <a:prstGeom prst="roundRect">
            <a:avLst>
              <a:gd name="adj" fmla="val 22857"/>
            </a:avLst>
          </a:prstGeom>
          <a:solidFill>
            <a:srgbClr val="E6F4F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66944" y="20116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38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175504" y="24231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PROCESSING ENGINES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266944" y="2880360"/>
            <a:ext cx="16459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21224" y="2971800"/>
            <a:ext cx="17373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Spatial Competition Index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Financial Feasibility/EMI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Scheme Eligibility Router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Confidence Scoring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114032" y="3657600"/>
            <a:ext cx="146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260336" y="1828800"/>
            <a:ext cx="2011680" cy="40233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443216" y="2011680"/>
            <a:ext cx="1645920" cy="320040"/>
          </a:xfrm>
          <a:prstGeom prst="roundRect">
            <a:avLst>
              <a:gd name="adj" fmla="val 22857"/>
            </a:avLst>
          </a:prstGeom>
          <a:solidFill>
            <a:srgbClr val="E6F4F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43216" y="20116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38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351776" y="24231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AI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7443216" y="2880360"/>
            <a:ext cx="16459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97496" y="2971800"/>
            <a:ext cx="17373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Evaluates tool outputs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Prevents hallucination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Synthesizes plain narrative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Validates risk bounds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290304" y="3657600"/>
            <a:ext cx="146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9436608" y="1828800"/>
            <a:ext cx="2011680" cy="4023360"/>
          </a:xfrm>
          <a:prstGeom prst="roundRect">
            <a:avLst>
              <a:gd name="adj" fmla="val 5455"/>
            </a:avLst>
          </a:prstGeom>
          <a:solidFill>
            <a:srgbClr val="0F382C"/>
          </a:solidFill>
          <a:ln w="19050">
            <a:solidFill>
              <a:srgbClr val="0F382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619488" y="2011680"/>
            <a:ext cx="1645920" cy="320040"/>
          </a:xfrm>
          <a:prstGeom prst="roundRect">
            <a:avLst>
              <a:gd name="adj" fmla="val 22857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619488" y="20116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5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9528048" y="24231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ACTIONABLE REPORT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9619488" y="2880360"/>
            <a:ext cx="1645920" cy="0"/>
          </a:xfrm>
          <a:prstGeom prst="line">
            <a:avLst/>
          </a:prstGeom>
          <a:noFill/>
          <a:ln w="12700">
            <a:solidFill>
              <a:srgbClr val="10B98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573768" y="2971800"/>
            <a:ext cx="17373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Feasibility Score (/100)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START / CONSIDER / AVOID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Financial &amp; EMI Plan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Matched Govt Subsidies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31520" y="6035040"/>
            <a:ext cx="10725912" cy="548640"/>
          </a:xfrm>
          <a:prstGeom prst="roundRect">
            <a:avLst>
              <a:gd name="adj" fmla="val 13333"/>
            </a:avLst>
          </a:prstGeom>
          <a:solidFill>
            <a:srgbClr val="0B1D3A"/>
          </a:solidFill>
          <a:ln/>
        </p:spPr>
      </p:sp>
      <p:sp>
        <p:nvSpPr>
          <p:cNvPr id="42" name="Text 40"/>
          <p:cNvSpPr/>
          <p:nvPr/>
        </p:nvSpPr>
        <p:spPr>
          <a:xfrm>
            <a:off x="822960" y="60350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THREE-TIER VERDICT ENGINE:   [START] High Demand + Low Competition   |   [CONSIDER] Moderate Competition / Conditional Feasibility   |   [AVOID] Overcrowded Sector / High Financial Risk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2926080" cy="320040"/>
          </a:xfrm>
          <a:prstGeom prst="roundRect">
            <a:avLst>
              <a:gd name="adj" fmla="val 28571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74980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Modular &amp; Decoupled Platform Layering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20700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Spatial indexing, financial calculation tools, and AI orchestration decoupled for scalability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107259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737360"/>
            <a:ext cx="2011680" cy="32004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737360"/>
            <a:ext cx="2011680" cy="457200"/>
          </a:xfrm>
          <a:prstGeom prst="roundRect">
            <a:avLst>
              <a:gd name="adj" fmla="val 20000"/>
            </a:avLst>
          </a:prstGeom>
          <a:solidFill>
            <a:srgbClr val="0B1D3A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7373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CLIENT LAYER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41248" y="2377440"/>
            <a:ext cx="1792224" cy="685800"/>
          </a:xfrm>
          <a:prstGeom prst="roundRect">
            <a:avLst>
              <a:gd name="adj" fmla="val 10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37744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PWA / Web UI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41248" y="3200400"/>
            <a:ext cx="1792224" cy="685800"/>
          </a:xfrm>
          <a:prstGeom prst="roundRect">
            <a:avLst>
              <a:gd name="adj" fmla="val 10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20040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Leaflet Map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41248" y="4023360"/>
            <a:ext cx="1792224" cy="685800"/>
          </a:xfrm>
          <a:prstGeom prst="roundRect">
            <a:avLst>
              <a:gd name="adj" fmla="val 10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402336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Regional Language UI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07792" y="1737360"/>
            <a:ext cx="2011680" cy="32004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907792" y="1737360"/>
            <a:ext cx="2011680" cy="457200"/>
          </a:xfrm>
          <a:prstGeom prst="roundRect">
            <a:avLst>
              <a:gd name="adj" fmla="val 20000"/>
            </a:avLst>
          </a:prstGeom>
          <a:solidFill>
            <a:srgbClr val="1E3A5F"/>
          </a:solidFill>
          <a:ln/>
        </p:spPr>
      </p:sp>
      <p:sp>
        <p:nvSpPr>
          <p:cNvPr id="18" name="Text 16"/>
          <p:cNvSpPr/>
          <p:nvPr/>
        </p:nvSpPr>
        <p:spPr>
          <a:xfrm>
            <a:off x="2907792" y="17373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API GATEWAY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017520" y="2377440"/>
            <a:ext cx="1792224" cy="685800"/>
          </a:xfrm>
          <a:prstGeom prst="roundRect">
            <a:avLst>
              <a:gd name="adj" fmla="val 10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44952" y="237744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REST Gateway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017520" y="3200400"/>
            <a:ext cx="1792224" cy="685800"/>
          </a:xfrm>
          <a:prstGeom prst="roundRect">
            <a:avLst>
              <a:gd name="adj" fmla="val 10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044952" y="320040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&amp; Session Service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017520" y="4023360"/>
            <a:ext cx="1792224" cy="685800"/>
          </a:xfrm>
          <a:prstGeom prst="roundRect">
            <a:avLst>
              <a:gd name="adj" fmla="val 10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44952" y="402336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 Response Cache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84064" y="1737360"/>
            <a:ext cx="2011680" cy="32004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84064" y="1737360"/>
            <a:ext cx="2011680" cy="457200"/>
          </a:xfrm>
          <a:prstGeom prst="roundRect">
            <a:avLst>
              <a:gd name="adj" fmla="val 20000"/>
            </a:avLst>
          </a:prstGeom>
          <a:solidFill>
            <a:srgbClr val="0F382C"/>
          </a:solidFill>
          <a:ln/>
        </p:spPr>
      </p:sp>
      <p:sp>
        <p:nvSpPr>
          <p:cNvPr id="27" name="Text 25"/>
          <p:cNvSpPr/>
          <p:nvPr/>
        </p:nvSpPr>
        <p:spPr>
          <a:xfrm>
            <a:off x="5084064" y="17373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CORE ENGINES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193792" y="2377440"/>
            <a:ext cx="1792224" cy="685800"/>
          </a:xfrm>
          <a:prstGeom prst="roundRect">
            <a:avLst>
              <a:gd name="adj" fmla="val 10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21224" y="237744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PostGIS Spatial Radius Engine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193792" y="3200400"/>
            <a:ext cx="1792224" cy="685800"/>
          </a:xfrm>
          <a:prstGeom prst="roundRect">
            <a:avLst>
              <a:gd name="adj" fmla="val 10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21224" y="320040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CapEx/EMI Engine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193792" y="4023360"/>
            <a:ext cx="1792224" cy="685800"/>
          </a:xfrm>
          <a:prstGeom prst="roundRect">
            <a:avLst>
              <a:gd name="adj" fmla="val 10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21224" y="402336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Scheme Matcher Router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260336" y="1737360"/>
            <a:ext cx="2011680" cy="32004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60336" y="1737360"/>
            <a:ext cx="2011680" cy="45720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/>
        </p:spPr>
      </p:sp>
      <p:sp>
        <p:nvSpPr>
          <p:cNvPr id="36" name="Text 34"/>
          <p:cNvSpPr/>
          <p:nvPr/>
        </p:nvSpPr>
        <p:spPr>
          <a:xfrm>
            <a:off x="7260336" y="17373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AI AGENT LAYER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370064" y="2377440"/>
            <a:ext cx="1792224" cy="685800"/>
          </a:xfrm>
          <a:prstGeom prst="roundRect">
            <a:avLst>
              <a:gd name="adj" fmla="val 10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397496" y="237744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Tool Execution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370064" y="3200400"/>
            <a:ext cx="1792224" cy="685800"/>
          </a:xfrm>
          <a:prstGeom prst="roundRect">
            <a:avLst>
              <a:gd name="adj" fmla="val 10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397496" y="320040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Anti-Hallucination Guardrails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7370064" y="4023360"/>
            <a:ext cx="1792224" cy="685800"/>
          </a:xfrm>
          <a:prstGeom prst="roundRect">
            <a:avLst>
              <a:gd name="adj" fmla="val 10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397496" y="402336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&amp; Narrative Generator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9436608" y="1737360"/>
            <a:ext cx="2011680" cy="32004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436608" y="1737360"/>
            <a:ext cx="2011680" cy="457200"/>
          </a:xfrm>
          <a:prstGeom prst="roundRect">
            <a:avLst>
              <a:gd name="adj" fmla="val 20000"/>
            </a:avLst>
          </a:prstGeom>
          <a:solidFill>
            <a:srgbClr val="0F2942"/>
          </a:solidFill>
          <a:ln/>
        </p:spPr>
      </p:sp>
      <p:sp>
        <p:nvSpPr>
          <p:cNvPr id="45" name="Text 43"/>
          <p:cNvSpPr/>
          <p:nvPr/>
        </p:nvSpPr>
        <p:spPr>
          <a:xfrm>
            <a:off x="9436608" y="17373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DATA INTEGRATION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9546336" y="2377440"/>
            <a:ext cx="1792224" cy="685800"/>
          </a:xfrm>
          <a:prstGeom prst="roundRect">
            <a:avLst>
              <a:gd name="adj" fmla="val 10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573768" y="237744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UDYAM/MSME Open Registry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9546336" y="3200400"/>
            <a:ext cx="1792224" cy="685800"/>
          </a:xfrm>
          <a:prstGeom prst="roundRect">
            <a:avLst>
              <a:gd name="adj" fmla="val 10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573768" y="320040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OpenStreetMap Overpass API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9546336" y="4023360"/>
            <a:ext cx="1792224" cy="685800"/>
          </a:xfrm>
          <a:prstGeom prst="roundRect">
            <a:avLst>
              <a:gd name="adj" fmla="val 10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573768" y="402336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Census &amp; Community Reports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731520" y="5120640"/>
            <a:ext cx="10725912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14400" y="5212080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38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TECHNOLOGY STACK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914400" y="55321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Frontend: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/ Next.js, TailwindCSS, Leaflet.js, PWA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6217920" y="55321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API: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FastAPI, SQLAlchemy, Redis Caching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914400" y="58978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&amp; GIS: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15 + PostGIS 3, GeoPandas, Overpass API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6217920" y="58978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 Framework: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LangChain / LlamaIndex, Deterministic Tool Routing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2926080" cy="320040"/>
          </a:xfrm>
          <a:prstGeom prst="roundRect">
            <a:avLst>
              <a:gd name="adj" fmla="val 28571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 &amp; NOVELTY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74980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Our Approach Outperforms Traditional AI &amp; Databases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20700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Combining formal registries, spatial POIs, and community ground-truth into a unified confidence-scored engine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107259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737360"/>
            <a:ext cx="3200400" cy="411480"/>
          </a:xfrm>
          <a:prstGeom prst="roundRect">
            <a:avLst>
              <a:gd name="adj" fmla="val 17778"/>
            </a:avLst>
          </a:prstGeom>
          <a:solidFill>
            <a:srgbClr val="0B1D3A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7373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/ CAPABILITY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023360" y="1737360"/>
            <a:ext cx="3474720" cy="411480"/>
          </a:xfrm>
          <a:prstGeom prst="roundRect">
            <a:avLst>
              <a:gd name="adj" fmla="val 17778"/>
            </a:avLst>
          </a:prstGeom>
          <a:solidFill>
            <a:srgbClr val="475569"/>
          </a:solidFill>
          <a:ln/>
        </p:spPr>
      </p:sp>
      <p:sp>
        <p:nvSpPr>
          <p:cNvPr id="10" name="Text 8"/>
          <p:cNvSpPr/>
          <p:nvPr/>
        </p:nvSpPr>
        <p:spPr>
          <a:xfrm>
            <a:off x="4023360" y="173736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GENERIC AI / EXISTING TOOLS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589520" y="1737360"/>
            <a:ext cx="3867912" cy="411480"/>
          </a:xfrm>
          <a:prstGeom prst="roundRect">
            <a:avLst>
              <a:gd name="adj" fmla="val 17778"/>
            </a:avLst>
          </a:prstGeom>
          <a:solidFill>
            <a:srgbClr val="0F382C"/>
          </a:solidFill>
          <a:ln/>
        </p:spPr>
      </p:sp>
      <p:sp>
        <p:nvSpPr>
          <p:cNvPr id="12" name="Text 10"/>
          <p:cNvSpPr/>
          <p:nvPr/>
        </p:nvSpPr>
        <p:spPr>
          <a:xfrm>
            <a:off x="7589520" y="1737360"/>
            <a:ext cx="3867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SIH26091 PLATFORM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2240280"/>
            <a:ext cx="32004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224028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Rural Informal Vendor Mapping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023360" y="2240280"/>
            <a:ext cx="3474720" cy="594360"/>
          </a:xfrm>
          <a:prstGeom prst="roundRect">
            <a:avLst>
              <a:gd name="adj" fmla="val 12308"/>
            </a:avLst>
          </a:prstGeom>
          <a:solidFill>
            <a:srgbClr val="FFF5F5"/>
          </a:solidFill>
          <a:ln w="12700">
            <a:solidFill>
              <a:srgbClr val="FED7D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0" y="224028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Ignored (Formal data only)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589520" y="2240280"/>
            <a:ext cx="3867912" cy="594360"/>
          </a:xfrm>
          <a:prstGeom prst="roundRect">
            <a:avLst>
              <a:gd name="adj" fmla="val 12308"/>
            </a:avLst>
          </a:prstGeom>
          <a:solidFill>
            <a:srgbClr val="F0FDF4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80960" y="2240280"/>
            <a:ext cx="36850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38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Formal + OSM + Community Reports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2898648"/>
            <a:ext cx="32004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2898648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Reliability / Guardrails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023360" y="2898648"/>
            <a:ext cx="3474720" cy="594360"/>
          </a:xfrm>
          <a:prstGeom prst="roundRect">
            <a:avLst>
              <a:gd name="adj" fmla="val 12308"/>
            </a:avLst>
          </a:prstGeom>
          <a:solidFill>
            <a:srgbClr val="FFF5F5"/>
          </a:solidFill>
          <a:ln w="12700">
            <a:solidFill>
              <a:srgbClr val="FED7D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0" y="2898648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Risk of hallucinated stats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589520" y="2898648"/>
            <a:ext cx="3867912" cy="594360"/>
          </a:xfrm>
          <a:prstGeom prst="roundRect">
            <a:avLst>
              <a:gd name="adj" fmla="val 12308"/>
            </a:avLst>
          </a:prstGeom>
          <a:solidFill>
            <a:srgbClr val="F0FDF4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80960" y="2898648"/>
            <a:ext cx="36850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38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Grounded in tool calculations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31520" y="3557016"/>
            <a:ext cx="32004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3557016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 Transparency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023360" y="3557016"/>
            <a:ext cx="3474720" cy="594360"/>
          </a:xfrm>
          <a:prstGeom prst="roundRect">
            <a:avLst>
              <a:gd name="adj" fmla="val 12308"/>
            </a:avLst>
          </a:prstGeom>
          <a:solidFill>
            <a:srgbClr val="FFF5F5"/>
          </a:solidFill>
          <a:ln w="12700">
            <a:solidFill>
              <a:srgbClr val="FED7D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0" y="3557016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Single unverified output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589520" y="3557016"/>
            <a:ext cx="3867912" cy="594360"/>
          </a:xfrm>
          <a:prstGeom prst="roundRect">
            <a:avLst>
              <a:gd name="adj" fmla="val 12308"/>
            </a:avLst>
          </a:prstGeom>
          <a:solidFill>
            <a:srgbClr val="F0FDF4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80960" y="3557016"/>
            <a:ext cx="36850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38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Source badges &amp; Confidence Score (Cb)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31520" y="4215384"/>
            <a:ext cx="32004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2960" y="4215384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Feasibility Modeling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023360" y="4215384"/>
            <a:ext cx="3474720" cy="594360"/>
          </a:xfrm>
          <a:prstGeom prst="roundRect">
            <a:avLst>
              <a:gd name="adj" fmla="val 12308"/>
            </a:avLst>
          </a:prstGeom>
          <a:solidFill>
            <a:srgbClr val="FFF5F5"/>
          </a:solidFill>
          <a:ln w="12700">
            <a:solidFill>
              <a:srgbClr val="FED7D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14800" y="4215384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Generic business advice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589520" y="4215384"/>
            <a:ext cx="3867912" cy="594360"/>
          </a:xfrm>
          <a:prstGeom prst="roundRect">
            <a:avLst>
              <a:gd name="adj" fmla="val 12308"/>
            </a:avLst>
          </a:prstGeom>
          <a:solidFill>
            <a:srgbClr val="F0FDF4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0" y="4215384"/>
            <a:ext cx="36850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38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CapEx, Working Cap, EMI &amp; BEP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31520" y="4873752"/>
            <a:ext cx="32004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22960" y="4873752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Government Scheme Matcher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023360" y="4873752"/>
            <a:ext cx="3474720" cy="594360"/>
          </a:xfrm>
          <a:prstGeom prst="roundRect">
            <a:avLst>
              <a:gd name="adj" fmla="val 12308"/>
            </a:avLst>
          </a:prstGeom>
          <a:solidFill>
            <a:srgbClr val="FFF5F5"/>
          </a:solidFill>
          <a:ln w="12700">
            <a:solidFill>
              <a:srgbClr val="FED7D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114800" y="4873752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Manual web search required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7589520" y="4873752"/>
            <a:ext cx="3867912" cy="594360"/>
          </a:xfrm>
          <a:prstGeom prst="roundRect">
            <a:avLst>
              <a:gd name="adj" fmla="val 12308"/>
            </a:avLst>
          </a:prstGeom>
          <a:solidFill>
            <a:srgbClr val="F0FDF4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680960" y="4873752"/>
            <a:ext cx="36850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38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Automated rule-based matching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31520" y="5532120"/>
            <a:ext cx="32004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22960" y="553212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Low-Bandwidth Rural Access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023360" y="5532120"/>
            <a:ext cx="3474720" cy="594360"/>
          </a:xfrm>
          <a:prstGeom prst="roundRect">
            <a:avLst>
              <a:gd name="adj" fmla="val 12308"/>
            </a:avLst>
          </a:prstGeom>
          <a:solidFill>
            <a:srgbClr val="FFF5F5"/>
          </a:solidFill>
          <a:ln w="12700">
            <a:solidFill>
              <a:srgbClr val="FED7D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114800" y="553212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Heavy UI / High data usage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7589520" y="5532120"/>
            <a:ext cx="3867912" cy="594360"/>
          </a:xfrm>
          <a:prstGeom prst="roundRect">
            <a:avLst>
              <a:gd name="adj" fmla="val 12308"/>
            </a:avLst>
          </a:prstGeom>
          <a:solidFill>
            <a:srgbClr val="F0FDF4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680960" y="5532120"/>
            <a:ext cx="36850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38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Lightweight PWA &amp; Regional Support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2926080" cy="320040"/>
          </a:xfrm>
          <a:prstGeom prst="roundRect">
            <a:avLst>
              <a:gd name="adj" fmla="val 28571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 &amp; VIABILITY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74980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Feasibility &amp; 36-Hour Hackathon Scope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20700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Leveraging open datasets, open-source GIS tools, and realistic MVP boundaries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107259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737360"/>
            <a:ext cx="3456432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737360"/>
            <a:ext cx="3456432" cy="457200"/>
          </a:xfrm>
          <a:prstGeom prst="roundRect">
            <a:avLst>
              <a:gd name="adj" fmla="val 20000"/>
            </a:avLst>
          </a:prstGeom>
          <a:solidFill>
            <a:srgbClr val="0B1D3A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737360"/>
            <a:ext cx="3456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DATA FEASIBILITY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2377440"/>
            <a:ext cx="3090672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UDYAM open MSME records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OpenStreetMap / Overpass API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data.gov.in demographic tables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Census of India village codes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70832" y="1737360"/>
            <a:ext cx="3456432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70832" y="1737360"/>
            <a:ext cx="3456432" cy="457200"/>
          </a:xfrm>
          <a:prstGeom prst="roundRect">
            <a:avLst>
              <a:gd name="adj" fmla="val 20000"/>
            </a:avLst>
          </a:prstGeom>
          <a:solidFill>
            <a:srgbClr val="0B1D3A"/>
          </a:solidFill>
          <a:ln/>
        </p:spPr>
      </p:sp>
      <p:sp>
        <p:nvSpPr>
          <p:cNvPr id="13" name="Text 11"/>
          <p:cNvSpPr/>
          <p:nvPr/>
        </p:nvSpPr>
        <p:spPr>
          <a:xfrm>
            <a:off x="4370832" y="1737360"/>
            <a:ext cx="3456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FEASIBILITY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53712" y="2377440"/>
            <a:ext cx="3090672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PostgreSQL + PostGIS for spatial queries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FastAPI lightweight REST server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LangChain for agent tool calls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React + Leaflet for interactive map UI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10144" y="1737360"/>
            <a:ext cx="3456432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10144" y="1737360"/>
            <a:ext cx="3456432" cy="457200"/>
          </a:xfrm>
          <a:prstGeom prst="roundRect">
            <a:avLst>
              <a:gd name="adj" fmla="val 20000"/>
            </a:avLst>
          </a:prstGeom>
          <a:solidFill>
            <a:srgbClr val="0B1D3A"/>
          </a:solidFill>
          <a:ln/>
        </p:spPr>
      </p:sp>
      <p:sp>
        <p:nvSpPr>
          <p:cNvPr id="17" name="Text 15"/>
          <p:cNvSpPr/>
          <p:nvPr/>
        </p:nvSpPr>
        <p:spPr>
          <a:xfrm>
            <a:off x="8010144" y="1737360"/>
            <a:ext cx="3456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36-HOUR MVP SCOPE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193024" y="2377440"/>
            <a:ext cx="3090672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Focus on 1 sample district / pin code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Pre-cached OSM POI database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Core financial EMI &amp; break-even engine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PMEGP &amp; Mudra scheme matching rules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" y="5120640"/>
            <a:ext cx="10725912" cy="1371600"/>
          </a:xfrm>
          <a:prstGeom prst="roundRect">
            <a:avLst>
              <a:gd name="adj" fmla="val 8000"/>
            </a:avLst>
          </a:prstGeom>
          <a:solidFill>
            <a:srgbClr val="E6F4F1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5212080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38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REALISTIC HACKATHON GUARDRAILS &amp; TRANSPARENCY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14400" y="553212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We DO NOT claim complete coverage of all rural village shops instantly.
</a:t>
            </a:r>
            <a:pPr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We DO NOT present unverified AI estimates as facts—all outputs display data source and confidence scores.
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Community-reported entries require secondary verification to improve score weights over time.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2926080" cy="320040"/>
          </a:xfrm>
          <a:prstGeom prst="roundRect">
            <a:avLst>
              <a:gd name="adj" fmla="val 28571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&amp; BENEFITS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74980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Empowering Entrepreneurs &amp; Strengthening the Rural Ecosystem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20700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Socio-economic impact aligned with United Nations Sustainable Development Goals (SDGs)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107259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737360"/>
            <a:ext cx="3456432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737360"/>
            <a:ext cx="3456432" cy="457200"/>
          </a:xfrm>
          <a:prstGeom prst="roundRect">
            <a:avLst>
              <a:gd name="adj" fmla="val 20000"/>
            </a:avLst>
          </a:prstGeom>
          <a:solidFill>
            <a:srgbClr val="0B1D3A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737360"/>
            <a:ext cx="3456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RURAL ENTREPRENEURS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2377440"/>
            <a:ext cx="3090672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Data-backed business selection reduces failure risk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Clear financial breakdown &amp; manageable EMI planning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Direct access to eligible government subsidies &amp; grants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70832" y="1737360"/>
            <a:ext cx="3456432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70832" y="1737360"/>
            <a:ext cx="3456432" cy="457200"/>
          </a:xfrm>
          <a:prstGeom prst="roundRect">
            <a:avLst>
              <a:gd name="adj" fmla="val 20000"/>
            </a:avLst>
          </a:prstGeom>
          <a:solidFill>
            <a:srgbClr val="0F382C"/>
          </a:solidFill>
          <a:ln/>
        </p:spPr>
      </p:sp>
      <p:sp>
        <p:nvSpPr>
          <p:cNvPr id="13" name="Text 11"/>
          <p:cNvSpPr/>
          <p:nvPr/>
        </p:nvSpPr>
        <p:spPr>
          <a:xfrm>
            <a:off x="4370832" y="1737360"/>
            <a:ext cx="3456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LOCAL COMMUNITIES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53712" y="2377440"/>
            <a:ext cx="3090672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Identifies underserved service gaps in villages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Brings visibility to informal community micro-vendors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Encourages sustainable local job creation &amp; self-employment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10144" y="1737360"/>
            <a:ext cx="3456432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10144" y="1737360"/>
            <a:ext cx="3456432" cy="457200"/>
          </a:xfrm>
          <a:prstGeom prst="roundRect">
            <a:avLst>
              <a:gd name="adj" fmla="val 20000"/>
            </a:avLst>
          </a:prstGeom>
          <a:solidFill>
            <a:srgbClr val="1E3A5F"/>
          </a:solidFill>
          <a:ln/>
        </p:spPr>
      </p:sp>
      <p:sp>
        <p:nvSpPr>
          <p:cNvPr id="17" name="Text 15"/>
          <p:cNvSpPr/>
          <p:nvPr/>
        </p:nvSpPr>
        <p:spPr>
          <a:xfrm>
            <a:off x="8010144" y="1737360"/>
            <a:ext cx="3456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GOVT &amp; ECOSYSTEM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193024" y="2377440"/>
            <a:ext cx="3090672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Higher adoption of PMEGP, Mudra, and PM-FME schemes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Bridge between informal vendors and formal MSME registry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Data insights for District Industries Centres (DICs)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" y="5120640"/>
            <a:ext cx="10725912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5212080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ALIGNMENT WITH UN SUSTAINABLE DEVELOPMENT GOALS (SDGs)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14400" y="5532120"/>
            <a:ext cx="2468880" cy="822960"/>
          </a:xfrm>
          <a:prstGeom prst="roundRect">
            <a:avLst>
              <a:gd name="adj" fmla="val 8889"/>
            </a:avLst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0120" y="55778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38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SDG 1: NO POVERTY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60120" y="58521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Decentralized micro-enterprise creation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547872" y="5532120"/>
            <a:ext cx="2468880" cy="822960"/>
          </a:xfrm>
          <a:prstGeom prst="roundRect">
            <a:avLst>
              <a:gd name="adj" fmla="val 8889"/>
            </a:avLst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93592" y="55778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38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SDG 8: DECENT WORK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593592" y="58521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Promotes rural micro-entrepreneurship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181344" y="5532120"/>
            <a:ext cx="2468880" cy="822960"/>
          </a:xfrm>
          <a:prstGeom prst="roundRect">
            <a:avLst>
              <a:gd name="adj" fmla="val 8889"/>
            </a:avLst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27064" y="55778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38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SDG 9: INDUSTRY &amp; INNOVATION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27064" y="58521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Inclusive spatial data &amp; FinTech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8814816" y="5532120"/>
            <a:ext cx="2468880" cy="822960"/>
          </a:xfrm>
          <a:prstGeom prst="roundRect">
            <a:avLst>
              <a:gd name="adj" fmla="val 8889"/>
            </a:avLst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860536" y="55778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38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SDG 10: REDUCED INEQUALITIES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860536" y="58521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Bridges urban-rural information gap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2926080" cy="320040"/>
          </a:xfrm>
          <a:prstGeom prst="roundRect">
            <a:avLst>
              <a:gd name="adj" fmla="val 28571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 UI MOCKUP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74980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Entrepreneur Advisory Dashboard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20700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Simulated interface showing inputs, spatial competition, financial metrics, and verdict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107259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46720" y="1188720"/>
            <a:ext cx="3410712" cy="320040"/>
          </a:xfrm>
          <a:prstGeom prst="roundRect">
            <a:avLst>
              <a:gd name="adj" fmla="val 17143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0" y="1188720"/>
            <a:ext cx="34107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ILLUSTRATIVE DEMO VALUES FOR MOCKUP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0" y="1645920"/>
            <a:ext cx="10725912" cy="4846320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1645920"/>
            <a:ext cx="10725912" cy="45720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164592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SIH26091 ADVISORY DASHBOARD  |  Pin Code: 522002 (Guntur Rural)  |  Category: Agro-Repair Workshop  |  Capital: ₹2,00,000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005840" y="2286000"/>
            <a:ext cx="3291840" cy="3931920"/>
          </a:xfrm>
          <a:prstGeom prst="roundRect">
            <a:avLst>
              <a:gd name="adj" fmla="val 3333"/>
            </a:avLst>
          </a:prstGeom>
          <a:solidFill>
            <a:srgbClr val="F0FDF4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24688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38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OPPORTUNITY SCORE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05840" y="274320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F38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 / 100</a:t>
            </a:r>
            <a:endParaRPr lang="en-US" sz="3400" dirty="0"/>
          </a:p>
        </p:txBody>
      </p:sp>
      <p:sp>
        <p:nvSpPr>
          <p:cNvPr id="15" name="Shape 13"/>
          <p:cNvSpPr/>
          <p:nvPr/>
        </p:nvSpPr>
        <p:spPr>
          <a:xfrm>
            <a:off x="1188720" y="3566160"/>
            <a:ext cx="2926080" cy="411480"/>
          </a:xfrm>
          <a:prstGeom prst="roundRect">
            <a:avLst>
              <a:gd name="adj" fmla="val 17778"/>
            </a:avLst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1188720" y="356616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WITH CONDITIONS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88720" y="4160520"/>
            <a:ext cx="29260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Spatial Competition: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(2 shops within 3km)
</a:t>
            </a:r>
            <a:pPr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Financial Viability: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(PMEGP Eligible)
</a:t>
            </a:r>
            <a:pPr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Risk Assessment: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 EMI Load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480560" y="2286000"/>
            <a:ext cx="3246120" cy="18288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17720" y="2395728"/>
            <a:ext cx="2971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38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SPATIAL COMPETITION MAP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17720" y="260604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Mapped Competitors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617720" y="2880360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UDYAM: 1 Registered shop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OSM: 1 POI Mapped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Community: 0 Reports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17720" y="3767328"/>
            <a:ext cx="29718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17720" y="379476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Density (0.85 Cb Score)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909560" y="2286000"/>
            <a:ext cx="3246120" cy="18288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46720" y="2395728"/>
            <a:ext cx="2971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38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STRUCTURE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046720" y="260604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Cost: ₹2,00,000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046720" y="2880360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Equity (10%): ₹20,000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Subsidy (PMEGP 35%): ₹70,000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Bank Loan: ₹1,10,000 (EMI ~₹2,310)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046720" y="3767328"/>
            <a:ext cx="29718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46720" y="379476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BEP Sales: ₹17,025 / month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480560" y="4251960"/>
            <a:ext cx="3246120" cy="18288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17720" y="4361688"/>
            <a:ext cx="2971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38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SCHEME MATCHMAKER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617720" y="457200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PMEGP Rural Scheme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617720" y="4846320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Margin Subsidy: 35%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Nodal Agency: KVIC / DIC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Collateral: CGTMSE Covered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617720" y="5733288"/>
            <a:ext cx="29718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17720" y="576072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Eligible for Application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909560" y="4251960"/>
            <a:ext cx="3246120" cy="18288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046720" y="4361688"/>
            <a:ext cx="2971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38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ACTIONABLE NAVIGATION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046720" y="457200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Tools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046720" y="4846320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[View Competitors]   [Market Map]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[Financial Plan]   [Govt Schemes]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046720" y="5733288"/>
            <a:ext cx="29718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046720" y="576072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explore modules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2926080" cy="320040"/>
          </a:xfrm>
          <a:prstGeom prst="roundRect">
            <a:avLst>
              <a:gd name="adj" fmla="val 28571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 ROADMAP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74980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36-Hour Hackathon Implementation Timeline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20700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phase-by-phase execution plan assigned across specialized team roles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107259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737360"/>
            <a:ext cx="3456432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737360"/>
            <a:ext cx="1371600" cy="320040"/>
          </a:xfrm>
          <a:prstGeom prst="roundRect">
            <a:avLst>
              <a:gd name="adj" fmla="val 22857"/>
            </a:avLst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7373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 – 06 HRS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194560" y="17830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&amp; Setup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2148840"/>
            <a:ext cx="318211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Repo initialization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FastAPI &amp; PostGIS setup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Schema migrations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Mock data pipelines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68680" y="3383280"/>
            <a:ext cx="31821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429000"/>
            <a:ext cx="3182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38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Assigned: Team Lead / Backend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370832" y="1737360"/>
            <a:ext cx="3456432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70832" y="1737360"/>
            <a:ext cx="1371600" cy="320040"/>
          </a:xfrm>
          <a:prstGeom prst="roundRect">
            <a:avLst>
              <a:gd name="adj" fmla="val 22857"/>
            </a:avLst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4370832" y="17373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– 12 HRS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833872" y="17830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Integration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07992" y="2148840"/>
            <a:ext cx="318211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UDYAM data parser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OSM Overpass query engine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Census demographic filter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Spatial buffer queries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07992" y="3383280"/>
            <a:ext cx="31821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07992" y="3429000"/>
            <a:ext cx="3182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38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Assigned: Data / GIS Lead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8010144" y="1737360"/>
            <a:ext cx="3456432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10144" y="1737360"/>
            <a:ext cx="1371600" cy="320040"/>
          </a:xfrm>
          <a:prstGeom prst="roundRect">
            <a:avLst>
              <a:gd name="adj" fmla="val 22857"/>
            </a:avLst>
          </a:pr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8010144" y="17373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– 18 HRS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473184" y="17830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Competition Engine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147304" y="2148840"/>
            <a:ext cx="318211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Density calculator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Confidence score (Cb)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Community report store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Deduplication algorithm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147304" y="3383280"/>
            <a:ext cx="31821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147304" y="3429000"/>
            <a:ext cx="3182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38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Assigned: Backend / GIS Lead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31520" y="3931920"/>
            <a:ext cx="3456432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0" y="3931920"/>
            <a:ext cx="1371600" cy="320040"/>
          </a:xfrm>
          <a:prstGeom prst="roundRect">
            <a:avLst>
              <a:gd name="adj" fmla="val 22857"/>
            </a:avLst>
          </a:prstGeom>
          <a:solidFill>
            <a:srgbClr val="10B981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39319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– 24 HRS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194560" y="39776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&amp; Finance Engine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68680" y="4343400"/>
            <a:ext cx="318211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CapEx &amp; EMI calculator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Scheme matching rules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LangChain tool binding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Anti-hallucination checks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68680" y="5577840"/>
            <a:ext cx="31821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68680" y="5623560"/>
            <a:ext cx="3182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38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Assigned: AI / Financial Lead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370832" y="3931920"/>
            <a:ext cx="3456432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370832" y="3931920"/>
            <a:ext cx="1371600" cy="320040"/>
          </a:xfrm>
          <a:prstGeom prst="roundRect">
            <a:avLst>
              <a:gd name="adj" fmla="val 22857"/>
            </a:avLst>
          </a:prstGeom>
          <a:solidFill>
            <a:srgbClr val="10B981"/>
          </a:solidFill>
          <a:ln/>
        </p:spPr>
      </p:sp>
      <p:sp>
        <p:nvSpPr>
          <p:cNvPr id="37" name="Text 35"/>
          <p:cNvSpPr/>
          <p:nvPr/>
        </p:nvSpPr>
        <p:spPr>
          <a:xfrm>
            <a:off x="4370832" y="39319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– 30 HRS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833872" y="39776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Integration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507992" y="4343400"/>
            <a:ext cx="318211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React dashboard UI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Leaflet map visualization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Multilingual form components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REST API wiring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507992" y="5577840"/>
            <a:ext cx="31821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07992" y="5623560"/>
            <a:ext cx="3182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38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Assigned: Frontend Developer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8010144" y="3931920"/>
            <a:ext cx="3456432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010144" y="3931920"/>
            <a:ext cx="1371600" cy="320040"/>
          </a:xfrm>
          <a:prstGeom prst="roundRect">
            <a:avLst>
              <a:gd name="adj" fmla="val 22857"/>
            </a:avLst>
          </a:prstGeom>
          <a:solidFill>
            <a:srgbClr val="10B981"/>
          </a:solidFill>
          <a:ln/>
        </p:spPr>
      </p:sp>
      <p:sp>
        <p:nvSpPr>
          <p:cNvPr id="44" name="Text 42"/>
          <p:cNvSpPr/>
          <p:nvPr/>
        </p:nvSpPr>
        <p:spPr>
          <a:xfrm>
            <a:off x="8010144" y="39319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– 36 HRS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9473184" y="39776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&amp; Presentation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8147304" y="4343400"/>
            <a:ext cx="318211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End-to-end QA &amp; bug fixes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Demo scenario prep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Pitch deck rehearsal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Prototype deployment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8147304" y="5577840"/>
            <a:ext cx="31821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147304" y="5623560"/>
            <a:ext cx="3182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38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Assigned: Entire Team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731520" y="6172200"/>
            <a:ext cx="10725912" cy="457200"/>
          </a:xfrm>
          <a:prstGeom prst="roundRect">
            <a:avLst>
              <a:gd name="adj" fmla="val 16000"/>
            </a:avLst>
          </a:prstGeom>
          <a:solidFill>
            <a:srgbClr val="0B1D3A"/>
          </a:solidFill>
          <a:ln/>
        </p:spPr>
      </p:sp>
      <p:sp>
        <p:nvSpPr>
          <p:cNvPr id="50" name="Text 48"/>
          <p:cNvSpPr/>
          <p:nvPr/>
        </p:nvSpPr>
        <p:spPr>
          <a:xfrm>
            <a:off x="914400" y="617220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MILESTONE: Working MVP with live spatial query, financial EMI calculator, and AI recommendation demo ready by Hour 32.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2926080" cy="320040"/>
          </a:xfrm>
          <a:prstGeom prst="roundRect">
            <a:avLst>
              <a:gd name="adj" fmla="val 28571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&amp; REFERENCES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74980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Capabilities &amp; Primary Data Citations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20700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SIH26091 core development team credentials and authoritative open data sources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107259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737360"/>
            <a:ext cx="5212080" cy="466344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92024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TEAM ROSTER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0" y="2286000"/>
            <a:ext cx="4846320" cy="594360"/>
          </a:xfrm>
          <a:prstGeom prst="roundRect">
            <a:avLst>
              <a:gd name="adj" fmla="val 1230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231343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[Team Lead Name]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51560" y="257860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Science &amp; Engg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383280" y="24231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38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Stack &amp; AI Architect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14400" y="2944368"/>
            <a:ext cx="4846320" cy="594360"/>
          </a:xfrm>
          <a:prstGeom prst="roundRect">
            <a:avLst>
              <a:gd name="adj" fmla="val 1230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2971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[Member 2 Name]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51560" y="323697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 Technology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383280" y="308152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38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&amp; GIS Specialist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14400" y="3602736"/>
            <a:ext cx="4846320" cy="594360"/>
          </a:xfrm>
          <a:prstGeom prst="roundRect">
            <a:avLst>
              <a:gd name="adj" fmla="val 1230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363016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[Member 3 Name]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51560" y="389534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Science &amp; Engg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83280" y="3739896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38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UI/UX &amp; PWA Lead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14400" y="4261104"/>
            <a:ext cx="4846320" cy="594360"/>
          </a:xfrm>
          <a:prstGeom prst="roundRect">
            <a:avLst>
              <a:gd name="adj" fmla="val 1230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51560" y="428853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[Member 4 Name]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51560" y="455371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Science &amp; AI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383280" y="4398264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38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Pipeline &amp; ML Analytics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14400" y="4919472"/>
            <a:ext cx="4846320" cy="594360"/>
          </a:xfrm>
          <a:prstGeom prst="roundRect">
            <a:avLst>
              <a:gd name="adj" fmla="val 1230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51560" y="494690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[Member 5 Name]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51560" y="521208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Electronics / Business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383280" y="505663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38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&amp; Scheme Researcher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914400" y="5577840"/>
            <a:ext cx="4846320" cy="594360"/>
          </a:xfrm>
          <a:prstGeom prst="roundRect">
            <a:avLst>
              <a:gd name="adj" fmla="val 1230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1560" y="560527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[Mentor Name]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051560" y="587044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Faculty Advisor / Professor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383280" y="57150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38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&amp; Technical Mentor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245352" y="1737360"/>
            <a:ext cx="5212080" cy="466344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28232" y="192024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AUTHORITATIVE DATA REFERENCES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428232" y="2286000"/>
            <a:ext cx="4846320" cy="594360"/>
          </a:xfrm>
          <a:prstGeom prst="roundRect">
            <a:avLst>
              <a:gd name="adj" fmla="val 12308"/>
            </a:avLst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65392" y="23134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38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India Hackathon 2026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565392" y="257860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ID SIH26091 - AI Business Advisory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428232" y="2944368"/>
            <a:ext cx="4846320" cy="594360"/>
          </a:xfrm>
          <a:prstGeom prst="roundRect">
            <a:avLst>
              <a:gd name="adj" fmla="val 12308"/>
            </a:avLst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65392" y="2971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38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Government Data Platform India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565392" y="3236976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data.gov.in - District socio-economic &amp; demographic datasets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428232" y="3602736"/>
            <a:ext cx="4846320" cy="594360"/>
          </a:xfrm>
          <a:prstGeom prst="roundRect">
            <a:avLst>
              <a:gd name="adj" fmla="val 12308"/>
            </a:avLst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65392" y="363016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38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UDYAM Registration Portal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565392" y="3895344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Ministry of MSME open enterprise records &amp; NIC sector codes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428232" y="4261104"/>
            <a:ext cx="4846320" cy="594360"/>
          </a:xfrm>
          <a:prstGeom prst="roundRect">
            <a:avLst>
              <a:gd name="adj" fmla="val 12308"/>
            </a:avLst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65392" y="428853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38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OpenStreetMap &amp; Overpass API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565392" y="455371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Open-source geospatial POIs, road networks, and spatial boundaries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428232" y="4919472"/>
            <a:ext cx="4846320" cy="594360"/>
          </a:xfrm>
          <a:prstGeom prst="roundRect">
            <a:avLst>
              <a:gd name="adj" fmla="val 12308"/>
            </a:avLst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565392" y="494690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38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Census of India &amp; LGD Directory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565392" y="521208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Village/Town administrative codes &amp; population metrics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428232" y="5577840"/>
            <a:ext cx="4846320" cy="594360"/>
          </a:xfrm>
          <a:prstGeom prst="roundRect">
            <a:avLst>
              <a:gd name="adj" fmla="val 12308"/>
            </a:avLst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65392" y="560527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38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 Ministry Scheme Portals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565392" y="587044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KVIC PMEGP guidelines, Mudra Yojana circulars, MoFPI PM-FME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Smart India Hackathon 2026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SIH26091 - AI Business Advisory Presentation</dc:title>
  <dc:subject>PptxGenJS Presentation</dc:subject>
  <dc:creator>SIH26091 Team</dc:creator>
  <cp:lastModifiedBy>SIH26091 Team</cp:lastModifiedBy>
  <cp:revision>1</cp:revision>
  <dcterms:created xsi:type="dcterms:W3CDTF">2026-09-08T04:24:54Z</dcterms:created>
  <dcterms:modified xsi:type="dcterms:W3CDTF">2026-09-08T04:24:54Z</dcterms:modified>
</cp:coreProperties>
</file>